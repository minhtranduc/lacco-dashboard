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0" d="100"/>
          <a:sy n="60" d="100"/>
        </p:scale>
        <p:origin x="816"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88533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234440"/>
          </a:xfrm>
          <a:prstGeom prst="rect">
            <a:avLst/>
          </a:prstGeom>
          <a:solidFill>
            <a:srgbClr val="1E2761"/>
          </a:solidFill>
          <a:ln/>
        </p:spPr>
        <p:txBody>
          <a:bodyPr/>
          <a:lstStyle/>
          <a:p>
            <a:endParaRPr lang="en-US"/>
          </a:p>
        </p:txBody>
      </p:sp>
      <p:sp>
        <p:nvSpPr>
          <p:cNvPr id="3" name="Text 1"/>
          <p:cNvSpPr/>
          <p:nvPr/>
        </p:nvSpPr>
        <p:spPr>
          <a:xfrm>
            <a:off x="457200" y="201168"/>
            <a:ext cx="7406640" cy="457200"/>
          </a:xfrm>
          <a:prstGeom prst="rect">
            <a:avLst/>
          </a:prstGeom>
          <a:noFill/>
          <a:ln/>
        </p:spPr>
        <p:txBody>
          <a:bodyPr wrap="square" lIns="0" tIns="0" rIns="0" bIns="0" rtlCol="0" anchor="ctr"/>
          <a:lstStyle/>
          <a:p>
            <a:pPr marL="0" indent="0" algn="l">
              <a:buNone/>
            </a:pPr>
            <a:r>
              <a:rPr lang="en-US" sz="2200" b="1" dirty="0">
                <a:solidFill>
                  <a:srgbClr val="FFFFFF"/>
                </a:solidFill>
                <a:latin typeface="Arial" pitchFamily="34" charset="0"/>
                <a:ea typeface="Arial" pitchFamily="34" charset="-122"/>
                <a:cs typeface="Arial" pitchFamily="34" charset="-120"/>
              </a:rPr>
              <a:t>TIẾN ĐỘ DỰ ÁN — DASHBOARD LACCO</a:t>
            </a:r>
            <a:endParaRPr lang="en-US" sz="2200" dirty="0"/>
          </a:p>
        </p:txBody>
      </p:sp>
      <p:sp>
        <p:nvSpPr>
          <p:cNvPr id="4" name="Text 2"/>
          <p:cNvSpPr/>
          <p:nvPr/>
        </p:nvSpPr>
        <p:spPr>
          <a:xfrm>
            <a:off x="457200" y="713232"/>
            <a:ext cx="7406640" cy="320040"/>
          </a:xfrm>
          <a:prstGeom prst="rect">
            <a:avLst/>
          </a:prstGeom>
          <a:noFill/>
          <a:ln/>
        </p:spPr>
        <p:txBody>
          <a:bodyPr wrap="square" lIns="0" tIns="0" rIns="0" bIns="0" rtlCol="0" anchor="ctr"/>
          <a:lstStyle/>
          <a:p>
            <a:pPr marL="0" indent="0" algn="l">
              <a:buNone/>
            </a:pPr>
            <a:r>
              <a:rPr lang="en-US" sz="1200" dirty="0">
                <a:solidFill>
                  <a:srgbClr val="CADCFC"/>
                </a:solidFill>
                <a:latin typeface="Arial" pitchFamily="34" charset="0"/>
                <a:ea typeface="Arial" pitchFamily="34" charset="-122"/>
                <a:cs typeface="Arial" pitchFamily="34" charset="-120"/>
              </a:rPr>
              <a:t>Giai đoạn 1 (WebApp MVP · 8 tuần)  ·  Cập nhật Tuần 6 — 13/09/2026</a:t>
            </a:r>
            <a:endParaRPr lang="en-US" sz="1200" dirty="0"/>
          </a:p>
        </p:txBody>
      </p:sp>
      <p:sp>
        <p:nvSpPr>
          <p:cNvPr id="5" name="Shape 3"/>
          <p:cNvSpPr/>
          <p:nvPr/>
        </p:nvSpPr>
        <p:spPr>
          <a:xfrm>
            <a:off x="8183880" y="155448"/>
            <a:ext cx="1691640" cy="932688"/>
          </a:xfrm>
          <a:prstGeom prst="roundRect">
            <a:avLst>
              <a:gd name="adj" fmla="val 7843"/>
            </a:avLst>
          </a:prstGeom>
          <a:solidFill>
            <a:srgbClr val="CADCFC"/>
          </a:solidFill>
          <a:ln/>
        </p:spPr>
        <p:txBody>
          <a:bodyPr/>
          <a:lstStyle/>
          <a:p>
            <a:endParaRPr lang="en-US"/>
          </a:p>
        </p:txBody>
      </p:sp>
      <p:sp>
        <p:nvSpPr>
          <p:cNvPr id="6" name="Text 4"/>
          <p:cNvSpPr/>
          <p:nvPr/>
        </p:nvSpPr>
        <p:spPr>
          <a:xfrm>
            <a:off x="8183880" y="219456"/>
            <a:ext cx="1691640" cy="502920"/>
          </a:xfrm>
          <a:prstGeom prst="rect">
            <a:avLst/>
          </a:prstGeom>
          <a:noFill/>
          <a:ln/>
        </p:spPr>
        <p:txBody>
          <a:bodyPr wrap="square" lIns="0" tIns="0" rIns="0" bIns="0" rtlCol="0" anchor="ctr"/>
          <a:lstStyle/>
          <a:p>
            <a:pPr marL="0" indent="0" algn="ctr">
              <a:buNone/>
            </a:pPr>
            <a:r>
              <a:rPr lang="en-US" sz="2700" b="1" dirty="0">
                <a:solidFill>
                  <a:srgbClr val="1E2761"/>
                </a:solidFill>
                <a:latin typeface="Arial" pitchFamily="34" charset="0"/>
                <a:ea typeface="Arial" pitchFamily="34" charset="-122"/>
                <a:cs typeface="Arial" pitchFamily="34" charset="-120"/>
              </a:rPr>
              <a:t>76,3%</a:t>
            </a:r>
            <a:endParaRPr lang="en-US" sz="2700" dirty="0"/>
          </a:p>
        </p:txBody>
      </p:sp>
      <p:sp>
        <p:nvSpPr>
          <p:cNvPr id="7" name="Text 5"/>
          <p:cNvSpPr/>
          <p:nvPr/>
        </p:nvSpPr>
        <p:spPr>
          <a:xfrm>
            <a:off x="8238744" y="731520"/>
            <a:ext cx="1581912" cy="310896"/>
          </a:xfrm>
          <a:prstGeom prst="rect">
            <a:avLst/>
          </a:prstGeom>
          <a:noFill/>
          <a:ln/>
        </p:spPr>
        <p:txBody>
          <a:bodyPr wrap="square" lIns="0" tIns="0" rIns="0" bIns="0" rtlCol="0" anchor="t"/>
          <a:lstStyle/>
          <a:p>
            <a:pPr marL="0" indent="0" algn="ctr">
              <a:buNone/>
            </a:pPr>
            <a:r>
              <a:rPr lang="en-US" sz="900" dirty="0">
                <a:solidFill>
                  <a:srgbClr val="1E2761"/>
                </a:solidFill>
                <a:latin typeface="Arial" pitchFamily="34" charset="0"/>
                <a:ea typeface="Arial" pitchFamily="34" charset="-122"/>
                <a:cs typeface="Arial" pitchFamily="34" charset="-120"/>
              </a:rPr>
              <a:t>Toàn dự án · 29/38 bước</a:t>
            </a:r>
            <a:endParaRPr lang="en-US" sz="900" dirty="0"/>
          </a:p>
        </p:txBody>
      </p:sp>
      <p:sp>
        <p:nvSpPr>
          <p:cNvPr id="8" name="Shape 6"/>
          <p:cNvSpPr/>
          <p:nvPr/>
        </p:nvSpPr>
        <p:spPr>
          <a:xfrm>
            <a:off x="10012680" y="155448"/>
            <a:ext cx="1691640" cy="932688"/>
          </a:xfrm>
          <a:prstGeom prst="roundRect">
            <a:avLst>
              <a:gd name="adj" fmla="val 7843"/>
            </a:avLst>
          </a:prstGeom>
          <a:solidFill>
            <a:srgbClr val="CADCFC"/>
          </a:solidFill>
          <a:ln/>
        </p:spPr>
        <p:txBody>
          <a:bodyPr/>
          <a:lstStyle/>
          <a:p>
            <a:endParaRPr lang="en-US"/>
          </a:p>
        </p:txBody>
      </p:sp>
      <p:sp>
        <p:nvSpPr>
          <p:cNvPr id="9" name="Text 7"/>
          <p:cNvSpPr/>
          <p:nvPr/>
        </p:nvSpPr>
        <p:spPr>
          <a:xfrm>
            <a:off x="10012680" y="219456"/>
            <a:ext cx="1691640" cy="502920"/>
          </a:xfrm>
          <a:prstGeom prst="rect">
            <a:avLst/>
          </a:prstGeom>
          <a:noFill/>
          <a:ln/>
        </p:spPr>
        <p:txBody>
          <a:bodyPr wrap="square" lIns="0" tIns="0" rIns="0" bIns="0" rtlCol="0" anchor="ctr"/>
          <a:lstStyle/>
          <a:p>
            <a:pPr marL="0" indent="0" algn="ctr">
              <a:buNone/>
            </a:pPr>
            <a:r>
              <a:rPr lang="en-US" sz="2700" b="1" dirty="0">
                <a:solidFill>
                  <a:srgbClr val="1E2761"/>
                </a:solidFill>
                <a:latin typeface="Arial" pitchFamily="34" charset="0"/>
                <a:ea typeface="Arial" pitchFamily="34" charset="-122"/>
                <a:cs typeface="Arial" pitchFamily="34" charset="-120"/>
              </a:rPr>
              <a:t>100%</a:t>
            </a:r>
            <a:endParaRPr lang="en-US" sz="2700" dirty="0"/>
          </a:p>
        </p:txBody>
      </p:sp>
      <p:sp>
        <p:nvSpPr>
          <p:cNvPr id="10" name="Text 8"/>
          <p:cNvSpPr/>
          <p:nvPr/>
        </p:nvSpPr>
        <p:spPr>
          <a:xfrm>
            <a:off x="10067544" y="731520"/>
            <a:ext cx="1581912" cy="310896"/>
          </a:xfrm>
          <a:prstGeom prst="rect">
            <a:avLst/>
          </a:prstGeom>
          <a:noFill/>
          <a:ln/>
        </p:spPr>
        <p:txBody>
          <a:bodyPr wrap="square" lIns="0" tIns="0" rIns="0" bIns="0" rtlCol="0" anchor="t"/>
          <a:lstStyle/>
          <a:p>
            <a:pPr marL="0" indent="0" algn="ctr">
              <a:buNone/>
            </a:pPr>
            <a:r>
              <a:rPr lang="en-US" sz="900" dirty="0">
                <a:solidFill>
                  <a:srgbClr val="1E2761"/>
                </a:solidFill>
                <a:latin typeface="Arial" pitchFamily="34" charset="0"/>
                <a:ea typeface="Arial" pitchFamily="34" charset="-122"/>
                <a:cs typeface="Arial" pitchFamily="34" charset="-120"/>
              </a:rPr>
              <a:t>Tuần 6 · 4/4 bước</a:t>
            </a:r>
            <a:endParaRPr lang="en-US" sz="900" dirty="0"/>
          </a:p>
        </p:txBody>
      </p:sp>
      <p:sp>
        <p:nvSpPr>
          <p:cNvPr id="11" name="Text 9"/>
          <p:cNvSpPr/>
          <p:nvPr/>
        </p:nvSpPr>
        <p:spPr>
          <a:xfrm>
            <a:off x="457200" y="1389888"/>
            <a:ext cx="4572000" cy="292608"/>
          </a:xfrm>
          <a:prstGeom prst="rect">
            <a:avLst/>
          </a:prstGeom>
          <a:noFill/>
          <a:ln/>
        </p:spPr>
        <p:txBody>
          <a:bodyPr wrap="square" lIns="0" tIns="0" rIns="0" bIns="0" rtlCol="0" anchor="ctr"/>
          <a:lstStyle/>
          <a:p>
            <a:pPr marL="0" indent="0">
              <a:buNone/>
            </a:pPr>
            <a:r>
              <a:rPr lang="en-US" sz="1400" b="1" dirty="0">
                <a:solidFill>
                  <a:srgbClr val="1E2761"/>
                </a:solidFill>
                <a:latin typeface="Arial" pitchFamily="34" charset="0"/>
                <a:ea typeface="Arial" pitchFamily="34" charset="-122"/>
                <a:cs typeface="Arial" pitchFamily="34" charset="-120"/>
              </a:rPr>
              <a:t>LỘ TRÌNH 8 TUẦN</a:t>
            </a:r>
            <a:endParaRPr lang="en-US" sz="1400" dirty="0"/>
          </a:p>
        </p:txBody>
      </p:sp>
      <p:sp>
        <p:nvSpPr>
          <p:cNvPr id="12" name="Shape 10"/>
          <p:cNvSpPr/>
          <p:nvPr/>
        </p:nvSpPr>
        <p:spPr>
          <a:xfrm>
            <a:off x="1051560" y="2331720"/>
            <a:ext cx="10104120" cy="0"/>
          </a:xfrm>
          <a:prstGeom prst="line">
            <a:avLst/>
          </a:prstGeom>
          <a:noFill/>
          <a:ln w="25400">
            <a:solidFill>
              <a:srgbClr val="C7CFDA"/>
            </a:solidFill>
            <a:prstDash val="solid"/>
          </a:ln>
        </p:spPr>
        <p:txBody>
          <a:bodyPr/>
          <a:lstStyle/>
          <a:p>
            <a:endParaRPr lang="en-US"/>
          </a:p>
        </p:txBody>
      </p:sp>
      <p:sp>
        <p:nvSpPr>
          <p:cNvPr id="13" name="Shape 11"/>
          <p:cNvSpPr/>
          <p:nvPr/>
        </p:nvSpPr>
        <p:spPr>
          <a:xfrm>
            <a:off x="822960" y="2103120"/>
            <a:ext cx="457200" cy="457200"/>
          </a:xfrm>
          <a:prstGeom prst="ellipse">
            <a:avLst/>
          </a:prstGeom>
          <a:solidFill>
            <a:srgbClr val="1E2761"/>
          </a:solidFill>
          <a:ln w="19050">
            <a:solidFill>
              <a:srgbClr val="1E2761"/>
            </a:solidFill>
            <a:prstDash val="solid"/>
          </a:ln>
        </p:spPr>
        <p:txBody>
          <a:bodyPr/>
          <a:lstStyle/>
          <a:p>
            <a:endParaRPr lang="en-US"/>
          </a:p>
        </p:txBody>
      </p:sp>
      <p:sp>
        <p:nvSpPr>
          <p:cNvPr id="14" name="Text 12"/>
          <p:cNvSpPr/>
          <p:nvPr/>
        </p:nvSpPr>
        <p:spPr>
          <a:xfrm>
            <a:off x="822960" y="21031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5" name="Text 13"/>
          <p:cNvSpPr/>
          <p:nvPr/>
        </p:nvSpPr>
        <p:spPr>
          <a:xfrm>
            <a:off x="375557" y="1719072"/>
            <a:ext cx="1352006" cy="274320"/>
          </a:xfrm>
          <a:prstGeom prst="rect">
            <a:avLst/>
          </a:prstGeom>
          <a:noFill/>
          <a:ln/>
        </p:spPr>
        <p:txBody>
          <a:bodyPr wrap="square" lIns="0" tIns="0" rIns="0" bIns="0" rtlCol="0" anchor="b"/>
          <a:lstStyle/>
          <a:p>
            <a:pPr marL="0" indent="0" algn="ctr">
              <a:buNone/>
            </a:pPr>
            <a:r>
              <a:rPr lang="en-US" sz="1050" b="1" dirty="0">
                <a:solidFill>
                  <a:srgbClr val="1E2761"/>
                </a:solidFill>
                <a:latin typeface="Arial" pitchFamily="34" charset="0"/>
                <a:ea typeface="Arial" pitchFamily="34" charset="-122"/>
                <a:cs typeface="Arial" pitchFamily="34" charset="-120"/>
              </a:rPr>
              <a:t>Tuần 1</a:t>
            </a:r>
            <a:endParaRPr lang="en-US" sz="1050" dirty="0"/>
          </a:p>
        </p:txBody>
      </p:sp>
      <p:sp>
        <p:nvSpPr>
          <p:cNvPr id="16" name="Text 14"/>
          <p:cNvSpPr/>
          <p:nvPr/>
        </p:nvSpPr>
        <p:spPr>
          <a:xfrm>
            <a:off x="375557" y="2633472"/>
            <a:ext cx="1352006" cy="548640"/>
          </a:xfrm>
          <a:prstGeom prst="rect">
            <a:avLst/>
          </a:prstGeom>
          <a:noFill/>
          <a:ln/>
        </p:spPr>
        <p:txBody>
          <a:bodyPr wrap="square" lIns="0" tIns="0" rIns="0" bIns="0" rtlCol="0" anchor="t"/>
          <a:lstStyle/>
          <a:p>
            <a:pPr marL="0" indent="0" algn="ctr">
              <a:buNone/>
            </a:pPr>
            <a:r>
              <a:rPr lang="en-US" sz="900" dirty="0">
                <a:solidFill>
                  <a:srgbClr val="5B6472"/>
                </a:solidFill>
                <a:latin typeface="Arial" pitchFamily="34" charset="0"/>
                <a:ea typeface="Arial" pitchFamily="34" charset="-122"/>
                <a:cs typeface="Arial" pitchFamily="34" charset="-120"/>
              </a:rPr>
              <a:t>Nền tảng &amp;</a:t>
            </a:r>
            <a:endParaRPr lang="en-US" sz="900" dirty="0"/>
          </a:p>
          <a:p>
            <a:pPr marL="0" indent="0" algn="ctr">
              <a:buNone/>
            </a:pPr>
            <a:r>
              <a:rPr lang="en-US" sz="900" dirty="0">
                <a:solidFill>
                  <a:srgbClr val="5B6472"/>
                </a:solidFill>
                <a:latin typeface="Arial" pitchFamily="34" charset="0"/>
                <a:ea typeface="Arial" pitchFamily="34" charset="-122"/>
                <a:cs typeface="Arial" pitchFamily="34" charset="-120"/>
              </a:rPr>
              <a:t>chốt yêu cầu</a:t>
            </a:r>
            <a:endParaRPr lang="en-US" sz="900" dirty="0"/>
          </a:p>
        </p:txBody>
      </p:sp>
      <p:sp>
        <p:nvSpPr>
          <p:cNvPr id="17" name="Shape 15"/>
          <p:cNvSpPr/>
          <p:nvPr/>
        </p:nvSpPr>
        <p:spPr>
          <a:xfrm>
            <a:off x="484632" y="3182112"/>
            <a:ext cx="1133856" cy="237744"/>
          </a:xfrm>
          <a:prstGeom prst="roundRect">
            <a:avLst>
              <a:gd name="adj" fmla="val 23077"/>
            </a:avLst>
          </a:prstGeom>
          <a:solidFill>
            <a:srgbClr val="2E8B57"/>
          </a:solidFill>
          <a:ln/>
        </p:spPr>
        <p:txBody>
          <a:bodyPr/>
          <a:lstStyle/>
          <a:p>
            <a:endParaRPr lang="en-US"/>
          </a:p>
        </p:txBody>
      </p:sp>
      <p:sp>
        <p:nvSpPr>
          <p:cNvPr id="1017" name="Shape 15 (Tuan2)"/>
          <p:cNvSpPr/>
          <p:nvPr/>
        </p:nvSpPr>
        <p:spPr>
          <a:xfrm>
            <a:off x="1928078" y="3182112"/>
            <a:ext cx="1133856" cy="237744"/>
          </a:xfrm>
          <a:prstGeom prst="roundRect">
            <a:avLst>
              <a:gd name="adj" fmla="val 23077"/>
            </a:avLst>
          </a:prstGeom>
          <a:solidFill>
            <a:srgbClr val="2E8B57"/>
          </a:solidFill>
          <a:ln/>
        </p:spPr>
        <p:txBody>
          <a:bodyPr/>
          <a:lstStyle/>
          <a:p>
            <a:endParaRPr lang="en-US"/>
          </a:p>
        </p:txBody>
      </p:sp>
      <p:sp>
        <p:nvSpPr>
          <p:cNvPr id="1019" name="Text 16 (Tuan2)"/>
          <p:cNvSpPr/>
          <p:nvPr/>
        </p:nvSpPr>
        <p:spPr>
          <a:xfrm>
            <a:off x="1928078" y="3182112"/>
            <a:ext cx="1133856"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Hoàn thành · 100%</a:t>
            </a:r>
            <a:endParaRPr lang="en-US" sz="850" dirty="0"/>
          </a:p>
        </p:txBody>
      </p:sp>
      <p:sp>
        <p:nvSpPr>
          <p:cNvPr id="18" name="Text 16"/>
          <p:cNvSpPr/>
          <p:nvPr/>
        </p:nvSpPr>
        <p:spPr>
          <a:xfrm>
            <a:off x="484632" y="3182112"/>
            <a:ext cx="1133856"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Hoàn thành · 100%</a:t>
            </a:r>
            <a:endParaRPr lang="en-US" sz="850" dirty="0"/>
          </a:p>
        </p:txBody>
      </p:sp>
      <p:sp>
        <p:nvSpPr>
          <p:cNvPr id="19" name="Shape 17"/>
          <p:cNvSpPr/>
          <p:nvPr/>
        </p:nvSpPr>
        <p:spPr>
          <a:xfrm>
            <a:off x="2266406" y="2103120"/>
            <a:ext cx="457200" cy="457200"/>
          </a:xfrm>
          <a:prstGeom prst="ellipse">
            <a:avLst/>
          </a:prstGeom>
          <a:solidFill>
            <a:schemeClr val="tx2">
              <a:lumMod val="75000"/>
            </a:schemeClr>
          </a:solidFill>
          <a:ln w="19050">
            <a:solidFill>
              <a:srgbClr val="9AA5B4"/>
            </a:solidFill>
            <a:prstDash val="solid"/>
          </a:ln>
        </p:spPr>
        <p:txBody>
          <a:bodyPr/>
          <a:lstStyle/>
          <a:p>
            <a:endParaRPr lang="en-US">
              <a:solidFill>
                <a:schemeClr val="bg1"/>
              </a:solidFill>
            </a:endParaRPr>
          </a:p>
        </p:txBody>
      </p:sp>
      <p:sp>
        <p:nvSpPr>
          <p:cNvPr id="20" name="Text 18"/>
          <p:cNvSpPr/>
          <p:nvPr/>
        </p:nvSpPr>
        <p:spPr>
          <a:xfrm>
            <a:off x="2266406"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latin typeface="Arial" pitchFamily="34" charset="0"/>
                <a:ea typeface="Arial" pitchFamily="34" charset="-122"/>
                <a:cs typeface="Arial" pitchFamily="34" charset="-120"/>
              </a:rPr>
              <a:t>2</a:t>
            </a:r>
            <a:endParaRPr lang="en-US" sz="1600" dirty="0">
              <a:solidFill>
                <a:schemeClr val="bg1"/>
              </a:solidFill>
            </a:endParaRPr>
          </a:p>
        </p:txBody>
      </p:sp>
      <p:sp>
        <p:nvSpPr>
          <p:cNvPr id="21" name="Text 19"/>
          <p:cNvSpPr/>
          <p:nvPr/>
        </p:nvSpPr>
        <p:spPr>
          <a:xfrm>
            <a:off x="1819003" y="1719072"/>
            <a:ext cx="1352006" cy="274320"/>
          </a:xfrm>
          <a:prstGeom prst="rect">
            <a:avLst/>
          </a:prstGeom>
          <a:noFill/>
          <a:ln/>
        </p:spPr>
        <p:txBody>
          <a:bodyPr wrap="square" lIns="0" tIns="0" rIns="0" bIns="0" rtlCol="0" anchor="b"/>
          <a:lstStyle/>
          <a:p>
            <a:pPr marL="0" indent="0" algn="ctr">
              <a:buNone/>
            </a:pPr>
            <a:r>
              <a:rPr lang="en-US" sz="1050" b="1" dirty="0">
                <a:solidFill>
                  <a:srgbClr val="6B7684"/>
                </a:solidFill>
                <a:latin typeface="Arial" pitchFamily="34" charset="0"/>
                <a:ea typeface="Arial" pitchFamily="34" charset="-122"/>
                <a:cs typeface="Arial" pitchFamily="34" charset="-120"/>
              </a:rPr>
              <a:t>Tuần 2</a:t>
            </a:r>
            <a:endParaRPr lang="en-US" sz="1050" dirty="0"/>
          </a:p>
        </p:txBody>
      </p:sp>
      <p:sp>
        <p:nvSpPr>
          <p:cNvPr id="22" name="Text 20"/>
          <p:cNvSpPr/>
          <p:nvPr/>
        </p:nvSpPr>
        <p:spPr>
          <a:xfrm>
            <a:off x="1819003" y="2633472"/>
            <a:ext cx="1352006" cy="548640"/>
          </a:xfrm>
          <a:prstGeom prst="rect">
            <a:avLst/>
          </a:prstGeom>
          <a:noFill/>
          <a:ln/>
        </p:spPr>
        <p:txBody>
          <a:bodyPr wrap="square" lIns="0" tIns="0" rIns="0" bIns="0" rtlCol="0" anchor="t"/>
          <a:lstStyle/>
          <a:p>
            <a:pPr marL="0" indent="0" algn="ctr">
              <a:buNone/>
            </a:pPr>
            <a:r>
              <a:rPr lang="en-US" sz="900" dirty="0">
                <a:solidFill>
                  <a:srgbClr val="5B6472"/>
                </a:solidFill>
                <a:latin typeface="Arial" pitchFamily="34" charset="0"/>
                <a:ea typeface="Arial" pitchFamily="34" charset="-122"/>
                <a:cs typeface="Arial" pitchFamily="34" charset="-120"/>
              </a:rPr>
              <a:t>Data layer</a:t>
            </a:r>
            <a:endParaRPr lang="en-US" sz="900" dirty="0"/>
          </a:p>
          <a:p>
            <a:pPr marL="0" indent="0" algn="ctr">
              <a:buNone/>
            </a:pPr>
            <a:r>
              <a:rPr lang="en-US" sz="900" dirty="0">
                <a:solidFill>
                  <a:srgbClr val="5B6472"/>
                </a:solidFill>
                <a:latin typeface="Arial" pitchFamily="34" charset="0"/>
                <a:ea typeface="Arial" pitchFamily="34" charset="-122"/>
                <a:cs typeface="Arial" pitchFamily="34" charset="-120"/>
              </a:rPr>
              <a:t>(schema, import)</a:t>
            </a:r>
            <a:endParaRPr lang="en-US" sz="900" dirty="0"/>
          </a:p>
        </p:txBody>
      </p:sp>
      <p:sp>
        <p:nvSpPr>
          <p:cNvPr id="23" name="Shape 21"/>
          <p:cNvSpPr/>
          <p:nvPr/>
        </p:nvSpPr>
        <p:spPr>
          <a:xfrm>
            <a:off x="3709851" y="2103120"/>
            <a:ext cx="457200" cy="457200"/>
          </a:xfrm>
          <a:prstGeom prst="ellipse">
            <a:avLst/>
          </a:prstGeom>
          <a:solidFill>
            <a:srgbClr val="FFFFFF"/>
          </a:solidFill>
          <a:ln w="19050">
            <a:solidFill>
              <a:srgbClr val="9AA5B4"/>
            </a:solidFill>
            <a:prstDash val="solid"/>
          </a:ln>
        </p:spPr>
        <p:txBody>
          <a:bodyPr/>
          <a:lstStyle/>
          <a:p>
            <a:endParaRPr lang="en-US"/>
          </a:p>
        </p:txBody>
      </p:sp>
      <p:sp>
        <p:nvSpPr>
          <p:cNvPr id="24" name="Text 22"/>
          <p:cNvSpPr/>
          <p:nvPr/>
        </p:nvSpPr>
        <p:spPr>
          <a:xfrm>
            <a:off x="3709851" y="2103120"/>
            <a:ext cx="457200" cy="457200"/>
          </a:xfrm>
          <a:prstGeom prst="rect">
            <a:avLst/>
          </a:prstGeom>
          <a:noFill/>
          <a:ln/>
        </p:spPr>
        <p:txBody>
          <a:bodyPr wrap="square" lIns="0" tIns="0" rIns="0" bIns="0" rtlCol="0" anchor="ctr"/>
          <a:lstStyle/>
          <a:p>
            <a:pPr marL="0" indent="0" algn="ctr">
              <a:buNone/>
            </a:pPr>
            <a:r>
              <a:rPr lang="en-US" sz="1600" b="1" dirty="0">
                <a:solidFill>
                  <a:srgbClr val="6B7684"/>
                </a:solidFill>
                <a:latin typeface="Arial" pitchFamily="34" charset="0"/>
                <a:ea typeface="Arial" pitchFamily="34" charset="-122"/>
                <a:cs typeface="Arial" pitchFamily="34" charset="-120"/>
              </a:rPr>
              <a:t>3</a:t>
            </a:r>
            <a:endParaRPr lang="en-US" sz="1600" dirty="0"/>
          </a:p>
        </p:txBody>
      </p:sp>
      <p:sp>
        <p:nvSpPr>
          <p:cNvPr id="25" name="Text 23"/>
          <p:cNvSpPr/>
          <p:nvPr/>
        </p:nvSpPr>
        <p:spPr>
          <a:xfrm>
            <a:off x="3262449" y="1719072"/>
            <a:ext cx="1352006" cy="274320"/>
          </a:xfrm>
          <a:prstGeom prst="rect">
            <a:avLst/>
          </a:prstGeom>
          <a:noFill/>
          <a:ln/>
        </p:spPr>
        <p:txBody>
          <a:bodyPr wrap="square" lIns="0" tIns="0" rIns="0" bIns="0" rtlCol="0" anchor="b"/>
          <a:lstStyle/>
          <a:p>
            <a:pPr marL="0" indent="0" algn="ctr">
              <a:buNone/>
            </a:pPr>
            <a:r>
              <a:rPr lang="en-US" sz="1050" b="1" dirty="0">
                <a:solidFill>
                  <a:srgbClr val="6B7684"/>
                </a:solidFill>
                <a:latin typeface="Arial" pitchFamily="34" charset="0"/>
                <a:ea typeface="Arial" pitchFamily="34" charset="-122"/>
                <a:cs typeface="Arial" pitchFamily="34" charset="-120"/>
              </a:rPr>
              <a:t>Tuần 3</a:t>
            </a:r>
            <a:endParaRPr lang="en-US" sz="1050" dirty="0"/>
          </a:p>
        </p:txBody>
      </p:sp>
      <p:sp>
        <p:nvSpPr>
          <p:cNvPr id="26" name="Text 24"/>
          <p:cNvSpPr/>
          <p:nvPr/>
        </p:nvSpPr>
        <p:spPr>
          <a:xfrm>
            <a:off x="3262449" y="2633472"/>
            <a:ext cx="1352006" cy="548640"/>
          </a:xfrm>
          <a:prstGeom prst="rect">
            <a:avLst/>
          </a:prstGeom>
          <a:noFill/>
          <a:ln/>
        </p:spPr>
        <p:txBody>
          <a:bodyPr wrap="square" lIns="0" tIns="0" rIns="0" bIns="0" rtlCol="0" anchor="t"/>
          <a:lstStyle/>
          <a:p>
            <a:pPr marL="0" indent="0" algn="ctr">
              <a:buNone/>
            </a:pPr>
            <a:r>
              <a:rPr lang="en-US" sz="900" dirty="0">
                <a:solidFill>
                  <a:srgbClr val="5B6472"/>
                </a:solidFill>
                <a:latin typeface="Arial" pitchFamily="34" charset="0"/>
                <a:ea typeface="Arial" pitchFamily="34" charset="-122"/>
                <a:cs typeface="Arial" pitchFamily="34" charset="-120"/>
              </a:rPr>
              <a:t>Auth &amp;</a:t>
            </a:r>
            <a:endParaRPr lang="en-US" sz="900" dirty="0"/>
          </a:p>
          <a:p>
            <a:pPr marL="0" indent="0" algn="ctr">
              <a:buNone/>
            </a:pPr>
            <a:r>
              <a:rPr lang="en-US" sz="900" dirty="0">
                <a:solidFill>
                  <a:srgbClr val="5B6472"/>
                </a:solidFill>
                <a:latin typeface="Arial" pitchFamily="34" charset="0"/>
                <a:ea typeface="Arial" pitchFamily="34" charset="-122"/>
                <a:cs typeface="Arial" pitchFamily="34" charset="-120"/>
              </a:rPr>
              <a:t>RBAC</a:t>
            </a:r>
            <a:endParaRPr lang="en-US" sz="900" dirty="0"/>
          </a:p>
        </p:txBody>
      </p:sp>
      <p:sp>
        <p:nvSpPr>
          <p:cNvPr id="27" name="Shape 25"/>
          <p:cNvSpPr/>
          <p:nvPr/>
        </p:nvSpPr>
        <p:spPr>
          <a:xfrm>
            <a:off x="5153297" y="2103120"/>
            <a:ext cx="457200" cy="457200"/>
          </a:xfrm>
          <a:prstGeom prst="ellipse">
            <a:avLst/>
          </a:prstGeom>
          <a:solidFill>
            <a:srgbClr val="FFFFFF"/>
          </a:solidFill>
          <a:ln w="19050">
            <a:solidFill>
              <a:srgbClr val="9AA5B4"/>
            </a:solidFill>
            <a:prstDash val="solid"/>
          </a:ln>
        </p:spPr>
        <p:txBody>
          <a:bodyPr/>
          <a:lstStyle/>
          <a:p>
            <a:endParaRPr lang="en-US"/>
          </a:p>
        </p:txBody>
      </p:sp>
      <p:sp>
        <p:nvSpPr>
          <p:cNvPr id="28" name="Text 26"/>
          <p:cNvSpPr/>
          <p:nvPr/>
        </p:nvSpPr>
        <p:spPr>
          <a:xfrm>
            <a:off x="5153297" y="2103120"/>
            <a:ext cx="457200" cy="457200"/>
          </a:xfrm>
          <a:prstGeom prst="rect">
            <a:avLst/>
          </a:prstGeom>
          <a:noFill/>
          <a:ln/>
        </p:spPr>
        <p:txBody>
          <a:bodyPr wrap="square" lIns="0" tIns="0" rIns="0" bIns="0" rtlCol="0" anchor="ctr"/>
          <a:lstStyle/>
          <a:p>
            <a:pPr marL="0" indent="0" algn="ctr">
              <a:buNone/>
            </a:pPr>
            <a:r>
              <a:rPr lang="en-US" sz="1600" b="1" dirty="0">
                <a:solidFill>
                  <a:srgbClr val="6B7684"/>
                </a:solidFill>
                <a:latin typeface="Arial" pitchFamily="34" charset="0"/>
                <a:ea typeface="Arial" pitchFamily="34" charset="-122"/>
                <a:cs typeface="Arial" pitchFamily="34" charset="-120"/>
              </a:rPr>
              <a:t>4</a:t>
            </a:r>
            <a:endParaRPr lang="en-US" sz="1600" dirty="0"/>
          </a:p>
        </p:txBody>
      </p:sp>
      <p:sp>
        <p:nvSpPr>
          <p:cNvPr id="29" name="Text 27"/>
          <p:cNvSpPr/>
          <p:nvPr/>
        </p:nvSpPr>
        <p:spPr>
          <a:xfrm>
            <a:off x="4705894" y="1719072"/>
            <a:ext cx="1352006" cy="274320"/>
          </a:xfrm>
          <a:prstGeom prst="rect">
            <a:avLst/>
          </a:prstGeom>
          <a:noFill/>
          <a:ln/>
        </p:spPr>
        <p:txBody>
          <a:bodyPr wrap="square" lIns="0" tIns="0" rIns="0" bIns="0" rtlCol="0" anchor="b"/>
          <a:lstStyle/>
          <a:p>
            <a:pPr marL="0" indent="0" algn="ctr">
              <a:buNone/>
            </a:pPr>
            <a:r>
              <a:rPr lang="en-US" sz="1050" b="1" dirty="0">
                <a:solidFill>
                  <a:srgbClr val="6B7684"/>
                </a:solidFill>
                <a:latin typeface="Arial" pitchFamily="34" charset="0"/>
                <a:ea typeface="Arial" pitchFamily="34" charset="-122"/>
                <a:cs typeface="Arial" pitchFamily="34" charset="-120"/>
              </a:rPr>
              <a:t>Tuần 4</a:t>
            </a:r>
            <a:endParaRPr lang="en-US" sz="1050" dirty="0"/>
          </a:p>
        </p:txBody>
      </p:sp>
      <p:sp>
        <p:nvSpPr>
          <p:cNvPr id="30" name="Text 28"/>
          <p:cNvSpPr/>
          <p:nvPr/>
        </p:nvSpPr>
        <p:spPr>
          <a:xfrm>
            <a:off x="4705894" y="2633472"/>
            <a:ext cx="1352006" cy="548640"/>
          </a:xfrm>
          <a:prstGeom prst="rect">
            <a:avLst/>
          </a:prstGeom>
          <a:noFill/>
          <a:ln/>
        </p:spPr>
        <p:txBody>
          <a:bodyPr wrap="square" lIns="0" tIns="0" rIns="0" bIns="0" rtlCol="0" anchor="t"/>
          <a:lstStyle/>
          <a:p>
            <a:pPr marL="0" indent="0" algn="ctr">
              <a:buNone/>
            </a:pPr>
            <a:r>
              <a:rPr lang="en-US" sz="900" dirty="0">
                <a:solidFill>
                  <a:srgbClr val="5B6472"/>
                </a:solidFill>
                <a:latin typeface="Arial" pitchFamily="34" charset="0"/>
                <a:ea typeface="Arial" pitchFamily="34" charset="-122"/>
                <a:cs typeface="Arial" pitchFamily="34" charset="-120"/>
              </a:rPr>
              <a:t>Báo cáo</a:t>
            </a:r>
            <a:endParaRPr lang="en-US" sz="900" dirty="0"/>
          </a:p>
          <a:p>
            <a:pPr marL="0" indent="0" algn="ctr">
              <a:buNone/>
            </a:pPr>
            <a:r>
              <a:rPr lang="en-US" sz="900" dirty="0">
                <a:solidFill>
                  <a:srgbClr val="5B6472"/>
                </a:solidFill>
                <a:latin typeface="Arial" pitchFamily="34" charset="0"/>
                <a:ea typeface="Arial" pitchFamily="34" charset="-122"/>
                <a:cs typeface="Arial" pitchFamily="34" charset="-120"/>
              </a:rPr>
              <a:t>đợt 1</a:t>
            </a:r>
            <a:endParaRPr lang="en-US" sz="900" dirty="0"/>
          </a:p>
        </p:txBody>
      </p:sp>
      <p:sp>
        <p:nvSpPr>
          <p:cNvPr id="31" name="Shape 29"/>
          <p:cNvSpPr/>
          <p:nvPr/>
        </p:nvSpPr>
        <p:spPr>
          <a:xfrm>
            <a:off x="6596743" y="2103120"/>
            <a:ext cx="457200" cy="457200"/>
          </a:xfrm>
          <a:prstGeom prst="ellipse">
            <a:avLst/>
          </a:prstGeom>
          <a:solidFill>
            <a:srgbClr val="FFFFFF"/>
          </a:solidFill>
          <a:ln w="19050">
            <a:solidFill>
              <a:srgbClr val="9AA5B4"/>
            </a:solidFill>
            <a:prstDash val="solid"/>
          </a:ln>
        </p:spPr>
        <p:txBody>
          <a:bodyPr/>
          <a:lstStyle/>
          <a:p>
            <a:endParaRPr lang="en-US"/>
          </a:p>
        </p:txBody>
      </p:sp>
      <p:sp>
        <p:nvSpPr>
          <p:cNvPr id="32" name="Text 30"/>
          <p:cNvSpPr/>
          <p:nvPr/>
        </p:nvSpPr>
        <p:spPr>
          <a:xfrm>
            <a:off x="6596743" y="2103120"/>
            <a:ext cx="457200" cy="457200"/>
          </a:xfrm>
          <a:prstGeom prst="rect">
            <a:avLst/>
          </a:prstGeom>
          <a:noFill/>
          <a:ln/>
        </p:spPr>
        <p:txBody>
          <a:bodyPr wrap="square" lIns="0" tIns="0" rIns="0" bIns="0" rtlCol="0" anchor="ctr"/>
          <a:lstStyle/>
          <a:p>
            <a:pPr marL="0" indent="0" algn="ctr">
              <a:buNone/>
            </a:pPr>
            <a:r>
              <a:rPr lang="en-US" sz="1600" b="1" dirty="0">
                <a:solidFill>
                  <a:srgbClr val="6B7684"/>
                </a:solidFill>
                <a:latin typeface="Arial" pitchFamily="34" charset="0"/>
                <a:ea typeface="Arial" pitchFamily="34" charset="-122"/>
                <a:cs typeface="Arial" pitchFamily="34" charset="-120"/>
              </a:rPr>
              <a:t>5</a:t>
            </a:r>
            <a:endParaRPr lang="en-US" sz="1600" dirty="0"/>
          </a:p>
        </p:txBody>
      </p:sp>
      <p:sp>
        <p:nvSpPr>
          <p:cNvPr id="33" name="Text 31"/>
          <p:cNvSpPr/>
          <p:nvPr/>
        </p:nvSpPr>
        <p:spPr>
          <a:xfrm>
            <a:off x="6149340" y="1719072"/>
            <a:ext cx="1352006" cy="274320"/>
          </a:xfrm>
          <a:prstGeom prst="rect">
            <a:avLst/>
          </a:prstGeom>
          <a:noFill/>
          <a:ln/>
        </p:spPr>
        <p:txBody>
          <a:bodyPr wrap="square" lIns="0" tIns="0" rIns="0" bIns="0" rtlCol="0" anchor="b"/>
          <a:lstStyle/>
          <a:p>
            <a:pPr marL="0" indent="0" algn="ctr">
              <a:buNone/>
            </a:pPr>
            <a:r>
              <a:rPr lang="en-US" sz="1050" b="1" dirty="0">
                <a:solidFill>
                  <a:srgbClr val="6B7684"/>
                </a:solidFill>
                <a:latin typeface="Arial" pitchFamily="34" charset="0"/>
                <a:ea typeface="Arial" pitchFamily="34" charset="-122"/>
                <a:cs typeface="Arial" pitchFamily="34" charset="-120"/>
              </a:rPr>
              <a:t>Tuần 5</a:t>
            </a:r>
            <a:endParaRPr lang="en-US" sz="1050" dirty="0"/>
          </a:p>
        </p:txBody>
      </p:sp>
      <p:sp>
        <p:nvSpPr>
          <p:cNvPr id="34" name="Text 32"/>
          <p:cNvSpPr/>
          <p:nvPr/>
        </p:nvSpPr>
        <p:spPr>
          <a:xfrm>
            <a:off x="6149340" y="2633472"/>
            <a:ext cx="1352006" cy="548640"/>
          </a:xfrm>
          <a:prstGeom prst="rect">
            <a:avLst/>
          </a:prstGeom>
          <a:noFill/>
          <a:ln/>
        </p:spPr>
        <p:txBody>
          <a:bodyPr wrap="square" lIns="0" tIns="0" rIns="0" bIns="0" rtlCol="0" anchor="t"/>
          <a:lstStyle/>
          <a:p>
            <a:pPr marL="0" indent="0" algn="ctr">
              <a:buNone/>
            </a:pPr>
            <a:r>
              <a:rPr lang="en-US" sz="900" dirty="0">
                <a:solidFill>
                  <a:srgbClr val="5B6472"/>
                </a:solidFill>
                <a:latin typeface="Arial" pitchFamily="34" charset="0"/>
                <a:ea typeface="Arial" pitchFamily="34" charset="-122"/>
                <a:cs typeface="Arial" pitchFamily="34" charset="-120"/>
              </a:rPr>
              <a:t>Báo cáo</a:t>
            </a:r>
            <a:endParaRPr lang="en-US" sz="900" dirty="0"/>
          </a:p>
          <a:p>
            <a:pPr marL="0" indent="0" algn="ctr">
              <a:buNone/>
            </a:pPr>
            <a:r>
              <a:rPr lang="en-US" sz="900" dirty="0">
                <a:solidFill>
                  <a:srgbClr val="5B6472"/>
                </a:solidFill>
                <a:latin typeface="Arial" pitchFamily="34" charset="0"/>
                <a:ea typeface="Arial" pitchFamily="34" charset="-122"/>
                <a:cs typeface="Arial" pitchFamily="34" charset="-120"/>
              </a:rPr>
              <a:t>đợt 2</a:t>
            </a:r>
            <a:endParaRPr lang="en-US" sz="900" dirty="0"/>
          </a:p>
        </p:txBody>
      </p:sp>
      <p:sp>
        <p:nvSpPr>
          <p:cNvPr id="35" name="Shape 33"/>
          <p:cNvSpPr/>
          <p:nvPr/>
        </p:nvSpPr>
        <p:spPr>
          <a:xfrm>
            <a:off x="8040189" y="2103120"/>
            <a:ext cx="457200" cy="457200"/>
          </a:xfrm>
          <a:prstGeom prst="ellipse">
            <a:avLst/>
          </a:prstGeom>
          <a:solidFill>
            <a:srgbClr val="FFFFFF"/>
          </a:solidFill>
          <a:ln w="19050">
            <a:solidFill>
              <a:srgbClr val="9AA5B4"/>
            </a:solidFill>
            <a:prstDash val="solid"/>
          </a:ln>
        </p:spPr>
        <p:txBody>
          <a:bodyPr/>
          <a:lstStyle/>
          <a:p>
            <a:endParaRPr lang="en-US"/>
          </a:p>
        </p:txBody>
      </p:sp>
      <p:sp>
        <p:nvSpPr>
          <p:cNvPr id="36" name="Text 34"/>
          <p:cNvSpPr/>
          <p:nvPr/>
        </p:nvSpPr>
        <p:spPr>
          <a:xfrm>
            <a:off x="8040189" y="2103120"/>
            <a:ext cx="457200" cy="457200"/>
          </a:xfrm>
          <a:prstGeom prst="rect">
            <a:avLst/>
          </a:prstGeom>
          <a:noFill/>
          <a:ln/>
        </p:spPr>
        <p:txBody>
          <a:bodyPr wrap="square" lIns="0" tIns="0" rIns="0" bIns="0" rtlCol="0" anchor="ctr"/>
          <a:lstStyle/>
          <a:p>
            <a:pPr marL="0" indent="0" algn="ctr">
              <a:buNone/>
            </a:pPr>
            <a:r>
              <a:rPr lang="en-US" sz="1600" b="1" dirty="0">
                <a:solidFill>
                  <a:srgbClr val="6B7684"/>
                </a:solidFill>
                <a:latin typeface="Arial" pitchFamily="34" charset="0"/>
                <a:ea typeface="Arial" pitchFamily="34" charset="-122"/>
                <a:cs typeface="Arial" pitchFamily="34" charset="-120"/>
              </a:rPr>
              <a:t>6</a:t>
            </a:r>
            <a:endParaRPr lang="en-US" sz="1600" dirty="0"/>
          </a:p>
        </p:txBody>
      </p:sp>
      <p:sp>
        <p:nvSpPr>
          <p:cNvPr id="37" name="Text 35"/>
          <p:cNvSpPr/>
          <p:nvPr/>
        </p:nvSpPr>
        <p:spPr>
          <a:xfrm>
            <a:off x="7592786" y="1719072"/>
            <a:ext cx="1352006" cy="274320"/>
          </a:xfrm>
          <a:prstGeom prst="rect">
            <a:avLst/>
          </a:prstGeom>
          <a:noFill/>
          <a:ln/>
        </p:spPr>
        <p:txBody>
          <a:bodyPr wrap="square" lIns="0" tIns="0" rIns="0" bIns="0" rtlCol="0" anchor="b"/>
          <a:lstStyle/>
          <a:p>
            <a:pPr marL="0" indent="0" algn="ctr">
              <a:buNone/>
            </a:pPr>
            <a:r>
              <a:rPr lang="en-US" sz="1050" b="1" dirty="0">
                <a:solidFill>
                  <a:srgbClr val="6B7684"/>
                </a:solidFill>
                <a:latin typeface="Arial" pitchFamily="34" charset="0"/>
                <a:ea typeface="Arial" pitchFamily="34" charset="-122"/>
                <a:cs typeface="Arial" pitchFamily="34" charset="-120"/>
              </a:rPr>
              <a:t>Tuần 6</a:t>
            </a:r>
            <a:endParaRPr lang="en-US" sz="1050" dirty="0"/>
          </a:p>
        </p:txBody>
      </p:sp>
      <p:sp>
        <p:nvSpPr>
          <p:cNvPr id="38" name="Text 36"/>
          <p:cNvSpPr/>
          <p:nvPr/>
        </p:nvSpPr>
        <p:spPr>
          <a:xfrm>
            <a:off x="7592786" y="2633472"/>
            <a:ext cx="1352006" cy="548640"/>
          </a:xfrm>
          <a:prstGeom prst="rect">
            <a:avLst/>
          </a:prstGeom>
          <a:noFill/>
          <a:ln/>
        </p:spPr>
        <p:txBody>
          <a:bodyPr wrap="square" lIns="0" tIns="0" rIns="0" bIns="0" rtlCol="0" anchor="t"/>
          <a:lstStyle/>
          <a:p>
            <a:pPr marL="0" indent="0" algn="ctr">
              <a:buNone/>
            </a:pPr>
            <a:r>
              <a:rPr lang="en-US" sz="900" dirty="0">
                <a:solidFill>
                  <a:srgbClr val="5B6472"/>
                </a:solidFill>
                <a:latin typeface="Arial" pitchFamily="34" charset="0"/>
                <a:ea typeface="Arial" pitchFamily="34" charset="-122"/>
                <a:cs typeface="Arial" pitchFamily="34" charset="-120"/>
              </a:rPr>
              <a:t>Export &amp;</a:t>
            </a:r>
            <a:endParaRPr lang="en-US" sz="900" dirty="0"/>
          </a:p>
          <a:p>
            <a:pPr marL="0" indent="0" algn="ctr">
              <a:buNone/>
            </a:pPr>
            <a:r>
              <a:rPr lang="en-US" sz="900" dirty="0">
                <a:solidFill>
                  <a:srgbClr val="5B6472"/>
                </a:solidFill>
                <a:latin typeface="Arial" pitchFamily="34" charset="0"/>
                <a:ea typeface="Arial" pitchFamily="34" charset="-122"/>
                <a:cs typeface="Arial" pitchFamily="34" charset="-120"/>
              </a:rPr>
              <a:t>hiệu năng</a:t>
            </a:r>
            <a:endParaRPr lang="en-US" sz="900" dirty="0"/>
          </a:p>
        </p:txBody>
      </p:sp>
      <p:sp>
        <p:nvSpPr>
          <p:cNvPr id="39" name="Shape 37"/>
          <p:cNvSpPr/>
          <p:nvPr/>
        </p:nvSpPr>
        <p:spPr>
          <a:xfrm>
            <a:off x="9483634" y="2103120"/>
            <a:ext cx="457200" cy="457200"/>
          </a:xfrm>
          <a:prstGeom prst="ellipse">
            <a:avLst/>
          </a:prstGeom>
          <a:solidFill>
            <a:srgbClr val="FFFFFF"/>
          </a:solidFill>
          <a:ln w="19050">
            <a:solidFill>
              <a:srgbClr val="9AA5B4"/>
            </a:solidFill>
            <a:prstDash val="solid"/>
          </a:ln>
        </p:spPr>
        <p:txBody>
          <a:bodyPr/>
          <a:lstStyle/>
          <a:p>
            <a:endParaRPr lang="en-US"/>
          </a:p>
        </p:txBody>
      </p:sp>
      <p:sp>
        <p:nvSpPr>
          <p:cNvPr id="40" name="Text 38"/>
          <p:cNvSpPr/>
          <p:nvPr/>
        </p:nvSpPr>
        <p:spPr>
          <a:xfrm>
            <a:off x="9483634" y="2103120"/>
            <a:ext cx="457200" cy="457200"/>
          </a:xfrm>
          <a:prstGeom prst="rect">
            <a:avLst/>
          </a:prstGeom>
          <a:noFill/>
          <a:ln/>
        </p:spPr>
        <p:txBody>
          <a:bodyPr wrap="square" lIns="0" tIns="0" rIns="0" bIns="0" rtlCol="0" anchor="ctr"/>
          <a:lstStyle/>
          <a:p>
            <a:pPr marL="0" indent="0" algn="ctr">
              <a:buNone/>
            </a:pPr>
            <a:r>
              <a:rPr lang="en-US" sz="1600" b="1" dirty="0">
                <a:solidFill>
                  <a:srgbClr val="6B7684"/>
                </a:solidFill>
                <a:latin typeface="Arial" pitchFamily="34" charset="0"/>
                <a:ea typeface="Arial" pitchFamily="34" charset="-122"/>
                <a:cs typeface="Arial" pitchFamily="34" charset="-120"/>
              </a:rPr>
              <a:t>7</a:t>
            </a:r>
            <a:endParaRPr lang="en-US" sz="1600" dirty="0"/>
          </a:p>
        </p:txBody>
      </p:sp>
      <p:sp>
        <p:nvSpPr>
          <p:cNvPr id="41" name="Text 39"/>
          <p:cNvSpPr/>
          <p:nvPr/>
        </p:nvSpPr>
        <p:spPr>
          <a:xfrm>
            <a:off x="9036231" y="1719072"/>
            <a:ext cx="1352006" cy="274320"/>
          </a:xfrm>
          <a:prstGeom prst="rect">
            <a:avLst/>
          </a:prstGeom>
          <a:noFill/>
          <a:ln/>
        </p:spPr>
        <p:txBody>
          <a:bodyPr wrap="square" lIns="0" tIns="0" rIns="0" bIns="0" rtlCol="0" anchor="b"/>
          <a:lstStyle/>
          <a:p>
            <a:pPr marL="0" indent="0" algn="ctr">
              <a:buNone/>
            </a:pPr>
            <a:r>
              <a:rPr lang="en-US" sz="1050" b="1" dirty="0">
                <a:solidFill>
                  <a:srgbClr val="6B7684"/>
                </a:solidFill>
                <a:latin typeface="Arial" pitchFamily="34" charset="0"/>
                <a:ea typeface="Arial" pitchFamily="34" charset="-122"/>
                <a:cs typeface="Arial" pitchFamily="34" charset="-120"/>
              </a:rPr>
              <a:t>Tuần 7</a:t>
            </a:r>
            <a:endParaRPr lang="en-US" sz="1050" dirty="0"/>
          </a:p>
        </p:txBody>
      </p:sp>
      <p:sp>
        <p:nvSpPr>
          <p:cNvPr id="42" name="Text 40"/>
          <p:cNvSpPr/>
          <p:nvPr/>
        </p:nvSpPr>
        <p:spPr>
          <a:xfrm>
            <a:off x="9036231" y="2633472"/>
            <a:ext cx="1352006" cy="548640"/>
          </a:xfrm>
          <a:prstGeom prst="rect">
            <a:avLst/>
          </a:prstGeom>
          <a:noFill/>
          <a:ln/>
        </p:spPr>
        <p:txBody>
          <a:bodyPr wrap="square" lIns="0" tIns="0" rIns="0" bIns="0" rtlCol="0" anchor="t"/>
          <a:lstStyle/>
          <a:p>
            <a:pPr marL="0" indent="0" algn="ctr">
              <a:buNone/>
            </a:pPr>
            <a:r>
              <a:rPr lang="en-US" sz="900" dirty="0">
                <a:solidFill>
                  <a:srgbClr val="5B6472"/>
                </a:solidFill>
                <a:latin typeface="Arial" pitchFamily="34" charset="0"/>
                <a:ea typeface="Arial" pitchFamily="34" charset="-122"/>
                <a:cs typeface="Arial" pitchFamily="34" charset="-120"/>
              </a:rPr>
              <a:t>Kiểm thử &amp;</a:t>
            </a:r>
            <a:endParaRPr lang="en-US" sz="900" dirty="0"/>
          </a:p>
          <a:p>
            <a:pPr marL="0" indent="0" algn="ctr">
              <a:buNone/>
            </a:pPr>
            <a:r>
              <a:rPr lang="en-US" sz="900" dirty="0">
                <a:solidFill>
                  <a:srgbClr val="5B6472"/>
                </a:solidFill>
                <a:latin typeface="Arial" pitchFamily="34" charset="0"/>
                <a:ea typeface="Arial" pitchFamily="34" charset="-122"/>
                <a:cs typeface="Arial" pitchFamily="34" charset="-120"/>
              </a:rPr>
              <a:t>triển khai</a:t>
            </a:r>
            <a:endParaRPr lang="en-US" sz="900" dirty="0"/>
          </a:p>
        </p:txBody>
      </p:sp>
      <p:sp>
        <p:nvSpPr>
          <p:cNvPr id="43" name="Shape 41"/>
          <p:cNvSpPr/>
          <p:nvPr/>
        </p:nvSpPr>
        <p:spPr>
          <a:xfrm>
            <a:off x="10927080" y="2103120"/>
            <a:ext cx="457200" cy="457200"/>
          </a:xfrm>
          <a:prstGeom prst="ellipse">
            <a:avLst/>
          </a:prstGeom>
          <a:solidFill>
            <a:srgbClr val="FFFFFF"/>
          </a:solidFill>
          <a:ln w="19050">
            <a:solidFill>
              <a:srgbClr val="9AA5B4"/>
            </a:solidFill>
            <a:prstDash val="solid"/>
          </a:ln>
        </p:spPr>
        <p:txBody>
          <a:bodyPr/>
          <a:lstStyle/>
          <a:p>
            <a:endParaRPr lang="en-US"/>
          </a:p>
        </p:txBody>
      </p:sp>
      <p:sp>
        <p:nvSpPr>
          <p:cNvPr id="44" name="Text 42"/>
          <p:cNvSpPr/>
          <p:nvPr/>
        </p:nvSpPr>
        <p:spPr>
          <a:xfrm>
            <a:off x="10927080" y="2103120"/>
            <a:ext cx="457200" cy="457200"/>
          </a:xfrm>
          <a:prstGeom prst="rect">
            <a:avLst/>
          </a:prstGeom>
          <a:noFill/>
          <a:ln/>
        </p:spPr>
        <p:txBody>
          <a:bodyPr wrap="square" lIns="0" tIns="0" rIns="0" bIns="0" rtlCol="0" anchor="ctr"/>
          <a:lstStyle/>
          <a:p>
            <a:pPr marL="0" indent="0" algn="ctr">
              <a:buNone/>
            </a:pPr>
            <a:r>
              <a:rPr lang="en-US" sz="1600" b="1" dirty="0">
                <a:solidFill>
                  <a:srgbClr val="6B7684"/>
                </a:solidFill>
                <a:latin typeface="Arial" pitchFamily="34" charset="0"/>
                <a:ea typeface="Arial" pitchFamily="34" charset="-122"/>
                <a:cs typeface="Arial" pitchFamily="34" charset="-120"/>
              </a:rPr>
              <a:t>8</a:t>
            </a:r>
            <a:endParaRPr lang="en-US" sz="1600" dirty="0"/>
          </a:p>
        </p:txBody>
      </p:sp>
      <p:sp>
        <p:nvSpPr>
          <p:cNvPr id="45" name="Text 43"/>
          <p:cNvSpPr/>
          <p:nvPr/>
        </p:nvSpPr>
        <p:spPr>
          <a:xfrm>
            <a:off x="10479677" y="1719072"/>
            <a:ext cx="1352006" cy="274320"/>
          </a:xfrm>
          <a:prstGeom prst="rect">
            <a:avLst/>
          </a:prstGeom>
          <a:noFill/>
          <a:ln/>
        </p:spPr>
        <p:txBody>
          <a:bodyPr wrap="square" lIns="0" tIns="0" rIns="0" bIns="0" rtlCol="0" anchor="b"/>
          <a:lstStyle/>
          <a:p>
            <a:pPr marL="0" indent="0" algn="ctr">
              <a:buNone/>
            </a:pPr>
            <a:r>
              <a:rPr lang="en-US" sz="1050" b="1" dirty="0">
                <a:solidFill>
                  <a:srgbClr val="6B7684"/>
                </a:solidFill>
                <a:latin typeface="Arial" pitchFamily="34" charset="0"/>
                <a:ea typeface="Arial" pitchFamily="34" charset="-122"/>
                <a:cs typeface="Arial" pitchFamily="34" charset="-120"/>
              </a:rPr>
              <a:t>Tuần 8</a:t>
            </a:r>
            <a:endParaRPr lang="en-US" sz="1050" dirty="0"/>
          </a:p>
        </p:txBody>
      </p:sp>
      <p:sp>
        <p:nvSpPr>
          <p:cNvPr id="46" name="Text 44"/>
          <p:cNvSpPr/>
          <p:nvPr/>
        </p:nvSpPr>
        <p:spPr>
          <a:xfrm>
            <a:off x="10479677" y="2633472"/>
            <a:ext cx="1352006" cy="548640"/>
          </a:xfrm>
          <a:prstGeom prst="rect">
            <a:avLst/>
          </a:prstGeom>
          <a:noFill/>
          <a:ln/>
        </p:spPr>
        <p:txBody>
          <a:bodyPr wrap="square" lIns="0" tIns="0" rIns="0" bIns="0" rtlCol="0" anchor="t"/>
          <a:lstStyle/>
          <a:p>
            <a:pPr marL="0" indent="0" algn="ctr">
              <a:buNone/>
            </a:pPr>
            <a:r>
              <a:rPr lang="en-US" sz="900" dirty="0">
                <a:solidFill>
                  <a:srgbClr val="5B6472"/>
                </a:solidFill>
                <a:latin typeface="Arial" pitchFamily="34" charset="0"/>
                <a:ea typeface="Arial" pitchFamily="34" charset="-122"/>
                <a:cs typeface="Arial" pitchFamily="34" charset="-120"/>
              </a:rPr>
              <a:t>UAT &amp;</a:t>
            </a:r>
            <a:endParaRPr lang="en-US" sz="900" dirty="0"/>
          </a:p>
          <a:p>
            <a:pPr marL="0" indent="0" algn="ctr">
              <a:buNone/>
            </a:pPr>
            <a:r>
              <a:rPr lang="en-US" sz="900" dirty="0">
                <a:solidFill>
                  <a:srgbClr val="5B6472"/>
                </a:solidFill>
                <a:latin typeface="Arial" pitchFamily="34" charset="0"/>
                <a:ea typeface="Arial" pitchFamily="34" charset="-122"/>
                <a:cs typeface="Arial" pitchFamily="34" charset="-120"/>
              </a:rPr>
              <a:t>tổng kết</a:t>
            </a:r>
            <a:endParaRPr lang="en-US" sz="900" dirty="0"/>
          </a:p>
        </p:txBody>
      </p:sp>
      <p:sp>
        <p:nvSpPr>
          <p:cNvPr id="47" name="Shape 45"/>
          <p:cNvSpPr/>
          <p:nvPr/>
        </p:nvSpPr>
        <p:spPr>
          <a:xfrm>
            <a:off x="457200" y="3703320"/>
            <a:ext cx="5623560" cy="2743200"/>
          </a:xfrm>
          <a:prstGeom prst="roundRect">
            <a:avLst>
              <a:gd name="adj" fmla="val 2667"/>
            </a:avLst>
          </a:prstGeom>
          <a:solidFill>
            <a:srgbClr val="F3F6FB"/>
          </a:solidFill>
          <a:ln/>
          <a:effectLst>
            <a:outerShdw blurRad="76200" dist="25400" dir="5400000" algn="bl" rotWithShape="0">
              <a:srgbClr val="9AA5B4">
                <a:alpha val="25000"/>
              </a:srgbClr>
            </a:outerShdw>
          </a:effectLst>
        </p:spPr>
        <p:txBody>
          <a:bodyPr/>
          <a:lstStyle/>
          <a:p>
            <a:endParaRPr lang="en-US"/>
          </a:p>
        </p:txBody>
      </p:sp>
      <p:sp>
        <p:nvSpPr>
          <p:cNvPr id="48" name="Text 46"/>
          <p:cNvSpPr/>
          <p:nvPr/>
        </p:nvSpPr>
        <p:spPr>
          <a:xfrm>
            <a:off x="713232" y="3849624"/>
            <a:ext cx="5120640" cy="292608"/>
          </a:xfrm>
          <a:prstGeom prst="rect">
            <a:avLst/>
          </a:prstGeom>
          <a:noFill/>
          <a:ln/>
        </p:spPr>
        <p:txBody>
          <a:bodyPr wrap="square" lIns="0" tIns="0" rIns="0" bIns="0" rtlCol="0" anchor="ctr"/>
          <a:lstStyle/>
          <a:p>
            <a:pPr marL="0" indent="0">
              <a:buNone/>
            </a:pPr>
            <a:r>
              <a:rPr lang="en-US" sz="1300" b="1" dirty="0">
                <a:solidFill>
                  <a:srgbClr val="1E2761"/>
                </a:solidFill>
                <a:latin typeface="Arial" pitchFamily="34" charset="0"/>
                <a:ea typeface="Arial" pitchFamily="34" charset="-122"/>
                <a:cs typeface="Arial" pitchFamily="34" charset="-120"/>
              </a:rPr>
              <a:t>TUẦN 6 — CHI TIẾT 4 BƯỚC</a:t>
            </a:r>
            <a:endParaRPr lang="en-US" sz="1300" dirty="0"/>
          </a:p>
        </p:txBody>
      </p:sp>
      <p:sp>
        <p:nvSpPr>
          <p:cNvPr id="49" name="Shape 47"/>
          <p:cNvSpPr/>
          <p:nvPr/>
        </p:nvSpPr>
        <p:spPr>
          <a:xfrm>
            <a:off x="713232" y="4311396"/>
            <a:ext cx="201168" cy="201168"/>
          </a:xfrm>
          <a:prstGeom prst="ellipse">
            <a:avLst/>
          </a:prstGeom>
          <a:solidFill>
            <a:srgbClr val="2E8B57"/>
          </a:solidFill>
          <a:ln/>
        </p:spPr>
        <p:txBody>
          <a:bodyPr/>
          <a:lstStyle/>
          <a:p>
            <a:endParaRPr lang="en-US"/>
          </a:p>
        </p:txBody>
      </p:sp>
      <p:sp>
        <p:nvSpPr>
          <p:cNvPr id="50" name="Text 48"/>
          <p:cNvSpPr/>
          <p:nvPr/>
        </p:nvSpPr>
        <p:spPr>
          <a:xfrm>
            <a:off x="713232" y="4311396"/>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51" name="Text 49"/>
          <p:cNvSpPr/>
          <p:nvPr/>
        </p:nvSpPr>
        <p:spPr>
          <a:xfrm>
            <a:off x="1024128" y="4311396"/>
            <a:ext cx="4892040" cy="306324"/>
          </a:xfrm>
          <a:prstGeom prst="rect">
            <a:avLst/>
          </a:prstGeom>
          <a:noFill/>
          <a:ln/>
        </p:spPr>
        <p:txBody>
          <a:bodyPr wrap="square" lIns="0" tIns="0" rIns="0" bIns="0" rtlCol="0" anchor="ctr"/>
          <a:lstStyle/>
          <a:p>
            <a:pPr marL="0" indent="0">
              <a:buNone/>
            </a:pPr>
            <a:r>
              <a:rPr lang="en-US" sz="1100" b="1" dirty="0">
                <a:solidFill>
                  <a:srgbClr val="1E2761"/>
                </a:solidFill>
                <a:latin typeface="Arial" pitchFamily="34" charset="0"/>
                <a:ea typeface="Arial" pitchFamily="34" charset="-122"/>
                <a:cs typeface="Arial" pitchFamily="34" charset="-120"/>
              </a:rPr>
              <a:t>6.1  Xuất báo cáo Excel/PDF (ReportLab, kaleido, graceful fallback)</a:t>
            </a:r>
            <a:endParaRPr lang="en-US" sz="1100" dirty="0"/>
          </a:p>
        </p:txBody>
      </p:sp>
      <p:sp>
        <p:nvSpPr>
          <p:cNvPr id="52" name="Shape 50"/>
          <p:cNvSpPr/>
          <p:nvPr/>
        </p:nvSpPr>
        <p:spPr>
          <a:xfrm>
            <a:off x="713232" y="4770882"/>
            <a:ext cx="201168" cy="201168"/>
          </a:xfrm>
          <a:prstGeom prst="ellipse">
            <a:avLst/>
          </a:prstGeom>
          <a:solidFill>
            <a:srgbClr val="2E8B57"/>
          </a:solidFill>
          <a:ln/>
        </p:spPr>
        <p:txBody>
          <a:bodyPr/>
          <a:lstStyle/>
          <a:p>
            <a:endParaRPr lang="en-US"/>
          </a:p>
        </p:txBody>
      </p:sp>
      <p:sp>
        <p:nvSpPr>
          <p:cNvPr id="53" name="Text 51"/>
          <p:cNvSpPr/>
          <p:nvPr/>
        </p:nvSpPr>
        <p:spPr>
          <a:xfrm>
            <a:off x="713232" y="4770882"/>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54" name="Text 52"/>
          <p:cNvSpPr/>
          <p:nvPr/>
        </p:nvSpPr>
        <p:spPr>
          <a:xfrm>
            <a:off x="1024128" y="4770882"/>
            <a:ext cx="4892040" cy="306324"/>
          </a:xfrm>
          <a:prstGeom prst="rect">
            <a:avLst/>
          </a:prstGeom>
          <a:noFill/>
          <a:ln/>
        </p:spPr>
        <p:txBody>
          <a:bodyPr wrap="square" lIns="0" tIns="0" rIns="0" bIns="0" rtlCol="0" anchor="ctr"/>
          <a:lstStyle/>
          <a:p>
            <a:pPr marL="0" indent="0">
              <a:buNone/>
            </a:pPr>
            <a:r>
              <a:rPr lang="en-US" sz="1100" b="1" dirty="0">
                <a:solidFill>
                  <a:srgbClr val="1E2761"/>
                </a:solidFill>
                <a:latin typeface="Arial" pitchFamily="34" charset="0"/>
                <a:ea typeface="Arial" pitchFamily="34" charset="-122"/>
                <a:cs typeface="Arial" pitchFamily="34" charset="-120"/>
              </a:rPr>
              <a:t>6.2  Test tải 20 người dùng đồng thời (tầng Service/DB, p95&lt;3s)</a:t>
            </a:r>
            <a:endParaRPr lang="en-US" sz="1100" dirty="0"/>
          </a:p>
        </p:txBody>
      </p:sp>
      <p:sp>
        <p:nvSpPr>
          <p:cNvPr id="55" name="Shape 53"/>
          <p:cNvSpPr/>
          <p:nvPr/>
        </p:nvSpPr>
        <p:spPr>
          <a:xfrm>
            <a:off x="713232" y="5230368"/>
            <a:ext cx="201168" cy="201168"/>
          </a:xfrm>
          <a:prstGeom prst="ellipse">
            <a:avLst/>
          </a:prstGeom>
          <a:solidFill>
            <a:srgbClr val="2E8B57"/>
          </a:solidFill>
          <a:ln/>
        </p:spPr>
        <p:txBody>
          <a:bodyPr/>
          <a:lstStyle/>
          <a:p>
            <a:endParaRPr lang="en-US"/>
          </a:p>
        </p:txBody>
      </p:sp>
      <p:sp>
        <p:nvSpPr>
          <p:cNvPr id="56" name="Text 54"/>
          <p:cNvSpPr/>
          <p:nvPr/>
        </p:nvSpPr>
        <p:spPr>
          <a:xfrm>
            <a:off x="713232" y="5230368"/>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57" name="Text 55"/>
          <p:cNvSpPr/>
          <p:nvPr/>
        </p:nvSpPr>
        <p:spPr>
          <a:xfrm>
            <a:off x="1024128" y="5230368"/>
            <a:ext cx="4892040" cy="306324"/>
          </a:xfrm>
          <a:prstGeom prst="rect">
            <a:avLst/>
          </a:prstGeom>
          <a:noFill/>
          <a:ln/>
        </p:spPr>
        <p:txBody>
          <a:bodyPr wrap="square" lIns="0" tIns="0" rIns="0" bIns="0" rtlCol="0" anchor="ctr"/>
          <a:lstStyle/>
          <a:p>
            <a:pPr marL="0" indent="0">
              <a:buNone/>
            </a:pPr>
            <a:r>
              <a:rPr lang="en-US" sz="1100" b="1" dirty="0">
                <a:solidFill>
                  <a:srgbClr val="1E2761"/>
                </a:solidFill>
                <a:latin typeface="Arial" pitchFamily="34" charset="0"/>
                <a:ea typeface="Arial" pitchFamily="34" charset="-122"/>
                <a:cs typeface="Arial" pitchFamily="34" charset="-120"/>
              </a:rPr>
              <a:t>6.3  Cấu hình Sentry giám sát lỗi runtime (SaaS free tier)</a:t>
            </a:r>
            <a:endParaRPr lang="en-US" sz="1100" dirty="0"/>
          </a:p>
        </p:txBody>
      </p:sp>
      <p:sp>
        <p:nvSpPr>
          <p:cNvPr id="58" name="Shape 56"/>
          <p:cNvSpPr/>
          <p:nvPr/>
        </p:nvSpPr>
        <p:spPr>
          <a:xfrm>
            <a:off x="713232" y="5689854"/>
            <a:ext cx="201168" cy="201168"/>
          </a:xfrm>
          <a:prstGeom prst="ellipse">
            <a:avLst/>
          </a:prstGeom>
          <a:solidFill>
            <a:srgbClr val="2E8B57"/>
          </a:solidFill>
          <a:ln/>
        </p:spPr>
        <p:txBody>
          <a:bodyPr/>
          <a:lstStyle/>
          <a:p>
            <a:endParaRPr lang="en-US"/>
          </a:p>
        </p:txBody>
      </p:sp>
      <p:sp>
        <p:nvSpPr>
          <p:cNvPr id="59" name="Text 57"/>
          <p:cNvSpPr/>
          <p:nvPr/>
        </p:nvSpPr>
        <p:spPr>
          <a:xfrm>
            <a:off x="713232" y="5689854"/>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a:t>
            </a:r>
            <a:endParaRPr lang="en-US" sz="900" dirty="0"/>
          </a:p>
        </p:txBody>
      </p:sp>
      <p:sp>
        <p:nvSpPr>
          <p:cNvPr id="60" name="Text 58"/>
          <p:cNvSpPr/>
          <p:nvPr/>
        </p:nvSpPr>
        <p:spPr>
          <a:xfrm>
            <a:off x="1024128" y="5689854"/>
            <a:ext cx="4892040" cy="306324"/>
          </a:xfrm>
          <a:prstGeom prst="rect">
            <a:avLst/>
          </a:prstGeom>
          <a:noFill/>
          <a:ln/>
        </p:spPr>
        <p:txBody>
          <a:bodyPr wrap="square" lIns="0" tIns="0" rIns="0" bIns="0" rtlCol="0" anchor="ctr"/>
          <a:lstStyle/>
          <a:p>
            <a:pPr marL="0" indent="0">
              <a:buNone/>
            </a:pPr>
            <a:r>
              <a:rPr lang="en-US" sz="1100" b="1" dirty="0">
                <a:solidFill>
                  <a:srgbClr val="1E2761"/>
                </a:solidFill>
                <a:latin typeface="Arial" pitchFamily="34" charset="0"/>
                <a:ea typeface="Arial" pitchFamily="34" charset="-122"/>
                <a:cs typeface="Arial" pitchFamily="34" charset="-120"/>
              </a:rPr>
              <a:t>6.4  Review &amp; nhật ký Tuần 6</a:t>
            </a:r>
            <a:endParaRPr lang="en-US" sz="1100" dirty="0"/>
          </a:p>
        </p:txBody>
      </p:sp>
      <p:sp>
        <p:nvSpPr>
          <p:cNvPr id="70" name="Shape 68"/>
          <p:cNvSpPr/>
          <p:nvPr/>
        </p:nvSpPr>
        <p:spPr>
          <a:xfrm>
            <a:off x="6263640" y="3703320"/>
            <a:ext cx="5468112" cy="2743200"/>
          </a:xfrm>
          <a:prstGeom prst="roundRect">
            <a:avLst>
              <a:gd name="adj" fmla="val 2667"/>
            </a:avLst>
          </a:prstGeom>
          <a:solidFill>
            <a:srgbClr val="F3F6FB"/>
          </a:solidFill>
          <a:ln/>
          <a:effectLst>
            <a:outerShdw blurRad="76200" dist="25400" dir="5400000" algn="bl" rotWithShape="0">
              <a:srgbClr val="9AA5B4">
                <a:alpha val="25000"/>
              </a:srgbClr>
            </a:outerShdw>
          </a:effectLst>
        </p:spPr>
        <p:txBody>
          <a:bodyPr/>
          <a:lstStyle/>
          <a:p>
            <a:endParaRPr lang="en-US"/>
          </a:p>
        </p:txBody>
      </p:sp>
      <p:sp>
        <p:nvSpPr>
          <p:cNvPr id="71" name="Text 69"/>
          <p:cNvSpPr/>
          <p:nvPr/>
        </p:nvSpPr>
        <p:spPr>
          <a:xfrm>
            <a:off x="6519672" y="3849624"/>
            <a:ext cx="4937760" cy="292608"/>
          </a:xfrm>
          <a:prstGeom prst="rect">
            <a:avLst/>
          </a:prstGeom>
          <a:noFill/>
          <a:ln/>
        </p:spPr>
        <p:txBody>
          <a:bodyPr wrap="square" lIns="0" tIns="0" rIns="0" bIns="0" rtlCol="0" anchor="ctr"/>
          <a:lstStyle/>
          <a:p>
            <a:pPr marL="0" indent="0">
              <a:buNone/>
            </a:pPr>
            <a:r>
              <a:rPr lang="en-US" sz="1300" b="1" dirty="0">
                <a:solidFill>
                  <a:srgbClr val="1E2761"/>
                </a:solidFill>
                <a:latin typeface="Arial" pitchFamily="34" charset="0"/>
                <a:ea typeface="Arial" pitchFamily="34" charset="-122"/>
                <a:cs typeface="Arial" pitchFamily="34" charset="-120"/>
              </a:rPr>
              <a:t>CẦN CHÚ Ý / VIỆC TIẾP THEO</a:t>
            </a:r>
            <a:endParaRPr lang="en-US" sz="1300" dirty="0"/>
          </a:p>
        </p:txBody>
      </p:sp>
      <p:sp>
        <p:nvSpPr>
          <p:cNvPr id="72" name="Text 70"/>
          <p:cNvSpPr/>
          <p:nvPr/>
        </p:nvSpPr>
        <p:spPr>
          <a:xfrm>
            <a:off x="6519672" y="4270248"/>
            <a:ext cx="4937760" cy="2011680"/>
          </a:xfrm>
          <a:prstGeom prst="rect">
            <a:avLst/>
          </a:prstGeom>
          <a:noFill/>
          <a:ln/>
        </p:spPr>
        <p:txBody>
          <a:bodyPr wrap="square" lIns="0" tIns="0" rIns="0" bIns="0" rtlCol="0" anchor="t"/>
          <a:lstStyle/>
          <a:p>
            <a:pPr marL="177800" indent="-177800">
              <a:lnSpc>
                <a:spcPct val="108000"/>
              </a:lnSpc>
              <a:spcAft>
                <a:spcPts val="1000"/>
              </a:spcAft>
              <a:buSzPct val="100000"/>
              <a:buChar char="●"/>
            </a:pPr>
            <a:r>
              <a:rPr lang="en-US" sz="1100" dirty="0">
                <a:solidFill>
                  <a:srgbClr val="343B45"/>
                </a:solidFill>
                <a:latin typeface="Arial" pitchFamily="34" charset="0"/>
                <a:ea typeface="Arial" pitchFamily="34" charset="-122"/>
                <a:cs typeface="Arial" pitchFamily="34" charset="-120"/>
              </a:rPr>
              <a:t>Bước 6.1 (Excel/PDF) và 6.2 (test tải) đạt đúng tiêu chí nghiệm thu MVP #4 và #5 (Kế hoạch triển khai mục 8); bước 6.3 (Sentry) không thuộc tiêu chí nghiệm thu gốc nhưng bổ sung giám sát lỗi runtime trước go-live — cả 3 bước đều phát sinh vướng mắc kỹ thuật thật, đã xử lý và ghi đầy đủ ở HD-18/19/20</a:t>
            </a:r>
            <a:endParaRPr lang="en-US" sz="1100" dirty="0"/>
          </a:p>
          <a:p>
            <a:pPr marL="177800" indent="-177800">
              <a:lnSpc>
                <a:spcPct val="108000"/>
              </a:lnSpc>
              <a:spcAft>
                <a:spcPts val="1000"/>
              </a:spcAft>
              <a:buSzPct val="100000"/>
              <a:buChar char="●"/>
            </a:pPr>
            <a:r>
              <a:rPr lang="en-US" sz="1100" dirty="0">
                <a:solidFill>
                  <a:srgbClr val="343B45"/>
                </a:solidFill>
                <a:latin typeface="Arial" pitchFamily="34" charset="0"/>
                <a:ea typeface="Arial" pitchFamily="34" charset="-122"/>
                <a:cs typeface="Arial" pitchFamily="34" charset="-120"/>
              </a:rPr>
              <a:t>3 rủi ro môi trường mang sang bước 7.2 (Deploy Windows Server): (a) kaleido/Chrome headless chưa xác nhận ổn định ngoài máy dev, (b) dịch vụ MySQL80 cần xác nhận tự khởi động cùng Windows, (c) test tải 6.2 mới đo trên dữ liệu mẫu nhỏ, nên đo lại gần sát dữ liệu thật hơn</a:t>
            </a:r>
            <a:endParaRPr lang="en-US" sz="1100" dirty="0"/>
          </a:p>
          <a:p>
            <a:pPr marL="177800" indent="-177800">
              <a:lnSpc>
                <a:spcPct val="108000"/>
              </a:lnSpc>
              <a:spcAft>
                <a:spcPts val="1000"/>
              </a:spcAft>
              <a:buSzPct val="100000"/>
              <a:buChar char="●"/>
            </a:pPr>
            <a:r>
              <a:rPr lang="en-US" sz="1100" dirty="0">
                <a:solidFill>
                  <a:srgbClr val="343B45"/>
                </a:solidFill>
                <a:latin typeface="Arial" pitchFamily="34" charset="0"/>
                <a:ea typeface="Arial" pitchFamily="34" charset="-122"/>
                <a:cs typeface="Arial" pitchFamily="34" charset="-120"/>
              </a:rPr>
              <a:t>Tồn đọng từ Tuần 5 CHƯA xử lý: test coverage src/services/ vẫn 0%; khuyến nghị bảo mật (MySQL least-privilege user, _DEV_FALLBACK_COOKIE_KEY) vẫn chưa làm — ưu tiên trước/trong bước 7.1 (Test suite &amp; security review cuối)</a:t>
            </a:r>
            <a:endParaRPr lang="en-US" sz="1100" dirty="0"/>
          </a:p>
          <a:p>
            <a:pPr marL="177800" indent="-177800">
              <a:lnSpc>
                <a:spcPct val="108000"/>
              </a:lnSpc>
              <a:spcAft>
                <a:spcPts val="1000"/>
              </a:spcAft>
              <a:buSzPct val="100000"/>
              <a:buChar char="●"/>
            </a:pPr>
            <a:r>
              <a:rPr lang="en-US" sz="1100" dirty="0">
                <a:solidFill>
                  <a:srgbClr val="343B45"/>
                </a:solidFill>
                <a:latin typeface="Arial" pitchFamily="34" charset="0"/>
                <a:ea typeface="Arial" pitchFamily="34" charset="-122"/>
                <a:cs typeface="Arial" pitchFamily="34" charset="-120"/>
              </a:rPr>
              <a:t>Tiến độ theo lịch (không phải nội dung) tiếp tục trễ ổn định so với mốc dự kiến, không có dấu hiệu trễ thêm — không cần rush hay cắt phạm vi (tracker coi ngày là mốc linh hoạt, không phải deadline cứng)</a:t>
            </a:r>
            <a:endParaRPr lang="en-US" sz="1100" dirty="0"/>
          </a:p>
        </p:txBody>
      </p:sp>
      <p:sp>
        <p:nvSpPr>
          <p:cNvPr id="73" name="Text 71"/>
          <p:cNvSpPr/>
          <p:nvPr/>
        </p:nvSpPr>
        <p:spPr>
          <a:xfrm>
            <a:off x="457200" y="6537960"/>
            <a:ext cx="11247120" cy="256032"/>
          </a:xfrm>
          <a:prstGeom prst="rect">
            <a:avLst/>
          </a:prstGeom>
          <a:noFill/>
          <a:ln/>
        </p:spPr>
        <p:txBody>
          <a:bodyPr wrap="square" lIns="0" tIns="0" rIns="0" bIns="0" rtlCol="0" anchor="ctr"/>
          <a:lstStyle/>
          <a:p>
            <a:pPr marL="0" indent="0" algn="l">
              <a:buNone/>
            </a:pPr>
            <a:r>
              <a:rPr lang="en-US" sz="900" dirty="0">
                <a:solidFill>
                  <a:srgbClr val="8A93A0"/>
                </a:solidFill>
                <a:latin typeface="Arial" pitchFamily="34" charset="0"/>
                <a:ea typeface="Arial" pitchFamily="34" charset="-122"/>
                <a:cs typeface="Arial" pitchFamily="34" charset="-120"/>
              </a:rPr>
              <a:t>Nguồn dữ liệu: Lich_trinh_thuc_hien_8_tuan_LACCO.xlsx  ·  Slide cập nhật hàng tuần cho Ban Lãnh đạo  ·  Dự án Dashboard LACCO — Giai đoạn 1</a:t>
            </a:r>
            <a:endParaRPr lang="en-US" sz="900" dirty="0"/>
          </a:p>
        </p:txBody>
      </p:sp>
      <p:sp>
        <p:nvSpPr>
          <p:cNvPr id="3017" name="Shape 15 (Tuan3)"/>
          <p:cNvSpPr/>
          <p:nvPr/>
        </p:nvSpPr>
        <p:spPr>
          <a:xfrm>
            <a:off x="3371524" y="3182112"/>
            <a:ext cx="1133856" cy="237744"/>
          </a:xfrm>
          <a:prstGeom prst="roundRect">
            <a:avLst>
              <a:gd name="adj" fmla="val 23077"/>
            </a:avLst>
          </a:prstGeom>
          <a:solidFill>
            <a:srgbClr val="2E8B57"/>
          </a:solidFill>
          <a:ln/>
        </p:spPr>
        <p:txBody>
          <a:bodyPr/>
          <a:lstStyle/>
          <a:p>
            <a:endParaRPr lang="en-US"/>
          </a:p>
        </p:txBody>
      </p:sp>
      <p:sp>
        <p:nvSpPr>
          <p:cNvPr id="3019" name="Text 16 (Tuan3)"/>
          <p:cNvSpPr/>
          <p:nvPr/>
        </p:nvSpPr>
        <p:spPr>
          <a:xfrm>
            <a:off x="3371524" y="3182112"/>
            <a:ext cx="1133856"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Hoàn thành · 100%</a:t>
            </a:r>
            <a:endParaRPr lang="en-US" sz="850" dirty="0"/>
          </a:p>
        </p:txBody>
      </p:sp>
      <p:sp>
        <p:nvSpPr>
          <p:cNvPr id="4017" name="Shape 15 (Tuan4)"/>
          <p:cNvSpPr/>
          <p:nvPr/>
        </p:nvSpPr>
        <p:spPr>
          <a:xfrm>
            <a:off x="4814970" y="3182112"/>
            <a:ext cx="1133856" cy="237744"/>
          </a:xfrm>
          <a:prstGeom prst="roundRect">
            <a:avLst>
              <a:gd name="adj" fmla="val 23077"/>
            </a:avLst>
          </a:prstGeom>
          <a:solidFill>
            <a:srgbClr val="2E8B57"/>
          </a:solidFill>
          <a:ln/>
        </p:spPr>
        <p:txBody>
          <a:bodyPr/>
          <a:lstStyle/>
          <a:p>
            <a:endParaRPr lang="en-US"/>
          </a:p>
        </p:txBody>
      </p:sp>
      <p:sp>
        <p:nvSpPr>
          <p:cNvPr id="4019" name="Text 16 (Tuan4)"/>
          <p:cNvSpPr/>
          <p:nvPr/>
        </p:nvSpPr>
        <p:spPr>
          <a:xfrm>
            <a:off x="4814970" y="3182112"/>
            <a:ext cx="1133856"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Hoàn thành · 100%</a:t>
            </a:r>
            <a:endParaRPr lang="en-US" sz="850" dirty="0"/>
          </a:p>
        </p:txBody>
      </p:sp>
      <p:sp>
        <p:nvSpPr>
          <p:cNvPr id="5017" name="Shape 15 (Tuan5)"/>
          <p:cNvSpPr/>
          <p:nvPr/>
        </p:nvSpPr>
        <p:spPr>
          <a:xfrm>
            <a:off x="6258416" y="3182112"/>
            <a:ext cx="1133856" cy="237744"/>
          </a:xfrm>
          <a:prstGeom prst="roundRect">
            <a:avLst>
              <a:gd name="adj" fmla="val 23077"/>
            </a:avLst>
          </a:prstGeom>
          <a:solidFill>
            <a:srgbClr val="2E8B57"/>
          </a:solidFill>
          <a:ln/>
        </p:spPr>
        <p:txBody>
          <a:bodyPr/>
          <a:lstStyle/>
          <a:p>
            <a:endParaRPr lang="en-US"/>
          </a:p>
        </p:txBody>
      </p:sp>
      <p:sp>
        <p:nvSpPr>
          <p:cNvPr id="5019" name="Text 16 (Tuan5)"/>
          <p:cNvSpPr/>
          <p:nvPr/>
        </p:nvSpPr>
        <p:spPr>
          <a:xfrm>
            <a:off x="6258416" y="3182112"/>
            <a:ext cx="1133856"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Hoàn thành · 100%</a:t>
            </a:r>
            <a:endParaRPr lang="en-US" sz="850" dirty="0"/>
          </a:p>
        </p:txBody>
      </p:sp>
      <p:sp>
        <p:nvSpPr>
          <p:cNvPr id="6017" name="Shape 15 (Tuan6)"/>
          <p:cNvSpPr/>
          <p:nvPr/>
        </p:nvSpPr>
        <p:spPr>
          <a:xfrm>
            <a:off x="7701862" y="3182112"/>
            <a:ext cx="1133856" cy="237744"/>
          </a:xfrm>
          <a:prstGeom prst="roundRect">
            <a:avLst>
              <a:gd name="adj" fmla="val 23077"/>
            </a:avLst>
          </a:prstGeom>
          <a:solidFill>
            <a:srgbClr val="2E8B57"/>
          </a:solidFill>
          <a:ln/>
        </p:spPr>
        <p:txBody>
          <a:bodyPr/>
          <a:lstStyle/>
          <a:p>
            <a:endParaRPr lang="en-US"/>
          </a:p>
        </p:txBody>
      </p:sp>
      <p:sp>
        <p:nvSpPr>
          <p:cNvPr id="6019" name="Text 16 (Tuan6)"/>
          <p:cNvSpPr/>
          <p:nvPr/>
        </p:nvSpPr>
        <p:spPr>
          <a:xfrm>
            <a:off x="7701862" y="3182112"/>
            <a:ext cx="1133856"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Arial" pitchFamily="34" charset="0"/>
                <a:ea typeface="Arial" pitchFamily="34" charset="-122"/>
                <a:cs typeface="Arial" pitchFamily="34" charset="-120"/>
              </a:rPr>
              <a:t>Hoàn thành · 100%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312</Words>
  <Application>Microsoft Office PowerPoint</Application>
  <PresentationFormat>Widescreen</PresentationFormat>
  <Paragraphs>59</Paragraphs>
  <Slides>1</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vt:i4>
      </vt:variant>
    </vt:vector>
  </HeadingPairs>
  <TitlesOfParts>
    <vt:vector size="3" baseType="lpstr">
      <vt:lpstr>Arial</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Minh Tran Duc</cp:lastModifiedBy>
  <cp:revision>2</cp:revision>
  <dcterms:created xsi:type="dcterms:W3CDTF">2026-08-15T10:07:06Z</dcterms:created>
  <dcterms:modified xsi:type="dcterms:W3CDTF">2026-08-24T02:33:44Z</dcterms:modified>
</cp:coreProperties>
</file>